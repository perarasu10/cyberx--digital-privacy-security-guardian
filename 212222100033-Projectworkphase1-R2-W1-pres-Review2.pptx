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9144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0F095FD-EDBD-4191-B52B-8100216E512F}" styleName="Table_0">
    <a:wholeTbl>
      <a:tcTxStyle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>
        <a:font>
          <a:latin typeface="Times New Roman"/>
          <a:ea typeface="Times New Roman"/>
          <a:cs typeface="Times New Roman"/>
        </a:font>
        <a:srgbClr val="FFFFFF"/>
      </a:tcTxStyle>
      <a:tcStyle>
        <a:tcBdr/>
        <a:fill>
          <a:solidFill>
            <a:srgbClr val="4F81BD"/>
          </a:solidFill>
        </a:fill>
      </a:tcStyle>
    </a:lastCol>
    <a:firstCol>
      <a:tcTxStyle b="on">
        <a:font>
          <a:latin typeface="Times New Roman"/>
          <a:ea typeface="Times New Roman"/>
          <a:cs typeface="Times New Roman"/>
        </a:font>
        <a:srgbClr val="FFFFFF"/>
      </a:tcTxStyle>
      <a:tcStyle>
        <a:tcBdr/>
        <a:fill>
          <a:solidFill>
            <a:srgbClr val="4F81BD"/>
          </a:solidFill>
        </a:fill>
      </a:tcStyle>
    </a:firstCol>
    <a:lastRow>
      <a:tcTxStyle b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F81BD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F81BD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91" name="Google Shape;91;p1:notes"/>
          <p:cNvSpPr/>
          <p:nvPr>
            <p:ph type="sldImg" idx="2"/>
          </p:nvPr>
        </p:nvSpPr>
        <p:spPr>
          <a:xfrm>
            <a:off x="1168400" y="708025"/>
            <a:ext cx="4535488" cy="34020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1:notes"/>
          <p:cNvSpPr txBox="1"/>
          <p:nvPr>
            <p:ph type="body" idx="1"/>
          </p:nvPr>
        </p:nvSpPr>
        <p:spPr>
          <a:xfrm>
            <a:off x="915294" y="4343703"/>
            <a:ext cx="5027414" cy="409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75" tIns="44825" rIns="89675" bIns="44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0" name="Google Shape;100;p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6" name="Google Shape;106;p3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12" name="Google Shape;112;p4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18" name="Google Shape;118;p5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24" name="Google Shape;124;p6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30" name="Google Shape;130;p8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36" name="Google Shape;136;p9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b6da2bd05_0_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42" name="Google Shape;142;g3ab6da2bd05_0_10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48" name="Google Shape;148;p10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54" name="Google Shape;154;p11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60" name="Google Shape;160;p1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66" name="Google Shape;166;p13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b6da2bd05_0_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72" name="Google Shape;172;g3ab6da2bd05_0_19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78" name="Google Shape;178;p14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b6da2bd05_0_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84" name="Google Shape;184;g3ab6da2bd05_0_56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90" name="Google Shape;190;p17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96" name="Google Shape;196;p20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02" name="Google Shape;202;p21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08" name="Google Shape;208;p2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14" name="Google Shape;214;p24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20" name="Google Shape;220;p25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27" name="Google Shape;227;p26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34" name="Google Shape;234;p28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41" name="Google Shape;241;p30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47" name="Google Shape;247;p31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53" name="Google Shape;253;p3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59" name="Google Shape;259;p33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65" name="Google Shape;265;p34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71" name="Google Shape;271;p35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1_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/>
        </p:nvSpPr>
        <p:spPr>
          <a:xfrm>
            <a:off x="1371600" y="6687979"/>
            <a:ext cx="59848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 panose="020F0502020204030204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SEC-  DEPARTMENT OF CSE(CS)–  </a:t>
            </a:r>
            <a:r>
              <a: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</a:t>
            </a:r>
            <a:r>
              <a:rPr lang="en-US"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- 1 –</a:t>
            </a:r>
            <a:r>
              <a:rPr 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PROJECTWORKPHASE1</a:t>
            </a:r>
            <a:r>
              <a:rPr lang="en-US"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– slide# -</a:t>
            </a: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457200" y="274638"/>
            <a:ext cx="8229600" cy="584200"/>
          </a:xfrm>
          <a:prstGeom prst="rect">
            <a:avLst/>
          </a:prstGeom>
          <a:gradFill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0"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</a:pP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457200" y="1027113"/>
            <a:ext cx="8229600" cy="5402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9" name="Google Shape;19;p2" descr="C:\Users\ELCOT\Desktop\Saveetha Logo.png"/>
          <p:cNvPicPr preferRelativeResize="0"/>
          <p:nvPr/>
        </p:nvPicPr>
        <p:blipFill rotWithShape="1">
          <a:blip r:embed="rId2"/>
          <a:srcRect r="26620" b="28149"/>
          <a:stretch>
            <a:fillRect/>
          </a:stretch>
        </p:blipFill>
        <p:spPr>
          <a:xfrm>
            <a:off x="6588225" y="2899"/>
            <a:ext cx="2570075" cy="2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8" name="Google Shape;48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0" name="Google Shape;50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10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1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www.developer.android.com/design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10"/>
              <a:buFont typeface="Arial" panose="020B0604020202020204"/>
              <a:buNone/>
            </a:pPr>
            <a:r>
              <a:rPr lang="en-US" sz="351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Project Work </a:t>
            </a:r>
            <a:r>
              <a:rPr lang="en-US" sz="351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Phase 1 </a:t>
            </a:r>
            <a:r>
              <a:rPr lang="en-US" sz="351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(19AI70</a:t>
            </a:r>
            <a:r>
              <a:rPr lang="en-US" sz="351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r>
            <a:r>
              <a:rPr lang="en-US" sz="351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 – Review 2</a:t>
            </a:r>
            <a:endParaRPr sz="351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28600" y="1181100"/>
            <a:ext cx="86106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800" b="1" u="sng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Digital Privacy &amp; Security Guardian (DPSG) - CyberX </a:t>
            </a:r>
            <a:br>
              <a:rPr lang="en-US" sz="3200" b="0" i="0" u="none" strike="noStrike" cap="none">
                <a:solidFill>
                  <a:srgbClr val="538CD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Submitted by: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altLang="en-US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Perarasu M</a:t>
            </a:r>
            <a:r>
              <a:rPr lang="en-US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(2122221000</a:t>
            </a:r>
            <a:r>
              <a:rPr lang="en-GB" altLang="en-US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33</a:t>
            </a:r>
            <a:r>
              <a:rPr lang="en-US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</a:t>
            </a:r>
            <a:endParaRPr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2022-2026 Batch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endParaRPr sz="2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TEAM NO: 026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endParaRPr sz="2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Under the guidance of: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Rajesh C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800">
                <a:solidFill>
                  <a:schemeClr val="dk1"/>
                </a:solidFill>
                <a:highlight>
                  <a:srgbClr val="FFFFFF"/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Assistant Professor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 Department of CSE(</a:t>
            </a:r>
            <a:r>
              <a:rPr lang="en-US" sz="2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IOT)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marR="0" lvl="1" indent="-134620" algn="l" rtl="0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-304800" y="5486400"/>
            <a:ext cx="9829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/>
              <a:buNone/>
            </a:pPr>
            <a:endParaRPr sz="2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</a:t>
            </a:r>
            <a:r>
              <a:rPr lang="en-US" sz="35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COMPUTER SCIENCE AND ENGINEERING(CS)</a:t>
            </a:r>
            <a:endParaRPr sz="3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</a:t>
            </a:r>
            <a:r>
              <a:rPr lang="en-US" sz="5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SAVEETHA ENGINEERING COLLEGE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(Autonomous Institution – UGC, Govt. of India)</a:t>
            </a:r>
            <a:endParaRPr sz="2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(Affiliated to Anna University, Approved by AICTE - Accredited by NBA &amp; NAAC – ‘A’ Grade - ISO 9001:2015 Certified)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Saveetha Nagar, Thandalam, Chennai-602 105, TamilNadu, INDIA.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marR="0" lvl="1" indent="-201295" algn="l" rtl="0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191000" y="5105400"/>
            <a:ext cx="685800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 idx="4294967295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/>
              <a:t>Agenda</a:t>
            </a:r>
            <a:endParaRPr lang="en-US"/>
          </a:p>
        </p:txBody>
      </p:sp>
      <p:sp>
        <p:nvSpPr>
          <p:cNvPr id="103" name="Google Shape;103;p15"/>
          <p:cNvSpPr txBox="1"/>
          <p:nvPr>
            <p:ph type="body" idx="4294967295"/>
          </p:nvPr>
        </p:nvSpPr>
        <p:spPr>
          <a:xfrm>
            <a:off x="266700" y="1265550"/>
            <a:ext cx="8610600" cy="51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57200" lvl="0" indent="-386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 panose="020F0502020204030204"/>
              <a:buAutoNum type="arabicPeriod"/>
            </a:pPr>
            <a:r>
              <a:rPr lang="en-US"/>
              <a:t>Introduction</a:t>
            </a:r>
            <a:endParaRPr lang="en-US"/>
          </a:p>
          <a:p>
            <a:pPr marL="457200" lvl="0" indent="-386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 panose="020F0502020204030204"/>
              <a:buAutoNum type="arabicPeriod"/>
            </a:pPr>
            <a:r>
              <a:rPr lang="en-US"/>
              <a:t>Statement of the Problem</a:t>
            </a:r>
            <a:endParaRPr lang="en-US"/>
          </a:p>
          <a:p>
            <a:pPr marL="914400" lvl="1" indent="-3663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 panose="020F0502020204030204"/>
              <a:buAutoNum type="alphaLcPeriod"/>
            </a:pPr>
            <a:r>
              <a:rPr lang="en-US"/>
              <a:t>&lt;subtitles &gt;</a:t>
            </a:r>
            <a:endParaRPr lang="en-US"/>
          </a:p>
          <a:p>
            <a:pPr marL="457200" lvl="0" indent="-386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 panose="020F0502020204030204"/>
              <a:buAutoNum type="arabicPeriod"/>
            </a:pPr>
            <a:r>
              <a:rPr lang="en-US"/>
              <a:t>Scope of the project</a:t>
            </a:r>
            <a:endParaRPr lang="en-US"/>
          </a:p>
          <a:p>
            <a:pPr marL="914400" lvl="1" indent="-3663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 panose="020F0502020204030204"/>
              <a:buAutoNum type="alphaLcPeriod"/>
            </a:pPr>
            <a:r>
              <a:rPr lang="en-US"/>
              <a:t>&lt;subtitles &gt; </a:t>
            </a:r>
            <a:endParaRPr lang="en-US"/>
          </a:p>
          <a:p>
            <a:pPr marL="457200" lvl="0" indent="-386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 panose="020F0502020204030204"/>
              <a:buAutoNum type="arabicPeriod"/>
            </a:pPr>
            <a:r>
              <a:rPr lang="en-US"/>
              <a:t>Methodology </a:t>
            </a:r>
            <a:endParaRPr lang="en-US"/>
          </a:p>
          <a:p>
            <a:pPr marL="914400" lvl="1" indent="-3663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 panose="020F0502020204030204"/>
              <a:buAutoNum type="alphaLcPeriod"/>
            </a:pPr>
            <a:r>
              <a:rPr lang="en-US"/>
              <a:t>Architectural Diagram &amp; Flow</a:t>
            </a:r>
            <a:endParaRPr lang="en-US"/>
          </a:p>
          <a:p>
            <a:pPr marL="914400" lvl="1" indent="-3663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 panose="020F0502020204030204"/>
              <a:buAutoNum type="alphaLcPeriod"/>
            </a:pPr>
            <a:r>
              <a:rPr lang="en-US"/>
              <a:t>Algorithm used</a:t>
            </a:r>
            <a:endParaRPr lang="en-US"/>
          </a:p>
          <a:p>
            <a:pPr marL="914400" lvl="1" indent="-3663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 panose="020F0502020204030204"/>
              <a:buAutoNum type="alphaLcPeriod"/>
            </a:pPr>
            <a:r>
              <a:rPr lang="en-US"/>
              <a:t>Design - Use Case Diagram, Class Diagram</a:t>
            </a:r>
            <a:endParaRPr lang="en-US"/>
          </a:p>
          <a:p>
            <a:pPr marL="914400" lvl="1" indent="-3663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 panose="020F0502020204030204"/>
              <a:buAutoNum type="alphaLcPeriod"/>
            </a:pPr>
            <a:r>
              <a:rPr lang="en-US"/>
              <a:t>Implementation</a:t>
            </a:r>
            <a:endParaRPr lang="en-US"/>
          </a:p>
          <a:p>
            <a:pPr marL="914400" lvl="1" indent="-3663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 panose="020F0502020204030204"/>
              <a:buAutoNum type="alphaLcPeriod"/>
            </a:pPr>
            <a:r>
              <a:rPr lang="en-US"/>
              <a:t>Important code segments</a:t>
            </a:r>
            <a:endParaRPr lang="en-US"/>
          </a:p>
          <a:p>
            <a:pPr marL="457200" lvl="0" indent="-386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 panose="020F0502020204030204"/>
              <a:buAutoNum type="arabicPeriod"/>
            </a:pPr>
            <a:r>
              <a:rPr lang="en-US"/>
              <a:t>Output, Results</a:t>
            </a:r>
            <a:endParaRPr lang="en-US"/>
          </a:p>
          <a:p>
            <a:pPr marL="457200" lvl="0" indent="-386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 panose="020F0502020204030204"/>
              <a:buAutoNum type="arabicPeriod"/>
            </a:pPr>
            <a:r>
              <a:rPr lang="en-US"/>
              <a:t>Test Cases</a:t>
            </a:r>
            <a:endParaRPr lang="en-US"/>
          </a:p>
          <a:p>
            <a:pPr marL="457200" lvl="0" indent="-386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 panose="020F0502020204030204"/>
              <a:buAutoNum type="arabicPeriod"/>
            </a:pPr>
            <a:r>
              <a:rPr lang="en-US"/>
              <a:t>Conclusions</a:t>
            </a:r>
            <a:endParaRPr lang="en-US"/>
          </a:p>
          <a:p>
            <a:pPr marL="457200" lvl="0" indent="-386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 panose="020F0502020204030204"/>
              <a:buAutoNum type="arabicPeriod"/>
            </a:pPr>
            <a:r>
              <a:rPr lang="en-US"/>
              <a:t>Future work</a:t>
            </a:r>
            <a:endParaRPr lang="en-US"/>
          </a:p>
          <a:p>
            <a:pPr marL="457200" lvl="0" indent="-386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 panose="020F0502020204030204"/>
              <a:buAutoNum type="arabicPeriod"/>
            </a:pPr>
            <a:r>
              <a:rPr lang="en-US"/>
              <a:t>References</a:t>
            </a:r>
            <a:endParaRPr lang="en-US"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/>
              <a:t>Introduction</a:t>
            </a:r>
            <a:endParaRPr lang="en-US"/>
          </a:p>
        </p:txBody>
      </p:sp>
      <p:sp>
        <p:nvSpPr>
          <p:cNvPr id="109" name="Google Shape;109;p16"/>
          <p:cNvSpPr txBox="1"/>
          <p:nvPr>
            <p:ph type="body" idx="4294967295"/>
          </p:nvPr>
        </p:nvSpPr>
        <p:spPr>
          <a:xfrm>
            <a:off x="204300" y="1194300"/>
            <a:ext cx="8735400" cy="56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5155" b="1"/>
              <a:t>Digital Privacy &amp; Security Guardian (DPSG)</a:t>
            </a:r>
            <a:endParaRPr sz="5155" b="1"/>
          </a:p>
          <a:p>
            <a:pPr marL="457200" lvl="0" indent="-4089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5155" b="1"/>
              <a:t>The Context:</a:t>
            </a:r>
            <a:r>
              <a:rPr lang="en-US" sz="5155"/>
              <a:t> In the current digital landscape, personal data collection by mobile apps is opaque, continuous, and growing exponentially.</a:t>
            </a:r>
            <a:endParaRPr sz="5155"/>
          </a:p>
          <a:p>
            <a:pPr marL="457200" lvl="0" indent="-4089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5155" b="1"/>
              <a:t>The Gap:</a:t>
            </a:r>
            <a:r>
              <a:rPr lang="en-US" sz="5155"/>
              <a:t> Traditional security tools are </a:t>
            </a:r>
            <a:r>
              <a:rPr lang="en-US" sz="5155" b="1"/>
              <a:t>reactive</a:t>
            </a:r>
            <a:r>
              <a:rPr lang="en-US" sz="5155"/>
              <a:t>, focusing only on known viruses/malware after a breach has occurred.</a:t>
            </a:r>
            <a:endParaRPr sz="5155"/>
          </a:p>
          <a:p>
            <a:pPr marL="457200" lvl="0" indent="-4089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5155" b="1"/>
              <a:t>The Solution:</a:t>
            </a:r>
            <a:r>
              <a:rPr lang="en-US" sz="5155"/>
              <a:t> DPSG is an </a:t>
            </a:r>
            <a:r>
              <a:rPr lang="en-US" sz="5155" b="1"/>
              <a:t>AI-powered mobile and desktop application</a:t>
            </a:r>
            <a:r>
              <a:rPr lang="en-US" sz="5155"/>
              <a:t> designed for proactive, real-time protection.</a:t>
            </a:r>
            <a:endParaRPr sz="5155"/>
          </a:p>
          <a:p>
            <a:pPr marL="457200" lvl="0" indent="-4089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5155" b="1"/>
              <a:t>Core Shift:</a:t>
            </a:r>
            <a:r>
              <a:rPr lang="en-US" sz="5155"/>
              <a:t> Moves beyond anti-malware to </a:t>
            </a:r>
            <a:r>
              <a:rPr lang="en-US" sz="5155" b="1"/>
              <a:t>privacy-first behavioral monitoring</a:t>
            </a:r>
            <a:r>
              <a:rPr lang="en-US" sz="5155"/>
              <a:t> and absolute user control.</a:t>
            </a:r>
            <a:endParaRPr sz="5155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/>
              <a:t>Statement of the Problem</a:t>
            </a:r>
            <a:endParaRPr lang="en-US"/>
          </a:p>
        </p:txBody>
      </p:sp>
      <p:sp>
        <p:nvSpPr>
          <p:cNvPr id="115" name="Google Shape;115;p17"/>
          <p:cNvSpPr txBox="1"/>
          <p:nvPr>
            <p:ph type="body" idx="4294967295"/>
          </p:nvPr>
        </p:nvSpPr>
        <p:spPr>
          <a:xfrm>
            <a:off x="132625" y="990600"/>
            <a:ext cx="9011400" cy="5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 panose="020B0604020202020204"/>
              <a:buNone/>
            </a:pPr>
            <a:r>
              <a:rPr lang="en-US" sz="2610" b="1"/>
              <a:t>The Challenge: Lack of Control &amp; Awareness</a:t>
            </a:r>
            <a:endParaRPr sz="2610" b="1"/>
          </a:p>
          <a:p>
            <a:pPr marL="457200" lvl="0" indent="-394335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613"/>
              <a:buChar char="●"/>
            </a:pPr>
            <a:r>
              <a:rPr lang="en-US" sz="2610" b="1"/>
              <a:t>Information Asymmetry:</a:t>
            </a:r>
            <a:r>
              <a:rPr lang="en-US" sz="2610"/>
              <a:t> Users are often unaware of which apps access sensitive sensors (Mic, Camera, Location) in the background.</a:t>
            </a:r>
            <a:endParaRPr sz="2610"/>
          </a:p>
          <a:p>
            <a:pPr marL="457200" lvl="0" indent="-394335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613"/>
              <a:buChar char="●"/>
            </a:pPr>
            <a:r>
              <a:rPr lang="en-US" sz="2610" b="1"/>
              <a:t>Reactive Legacy Tools:</a:t>
            </a:r>
            <a:r>
              <a:rPr lang="en-US" sz="2610"/>
              <a:t> Existing antivirus solutions fail to detect "grayware"—apps that are technically legal but exploit permissions for tracking or unauthorized data harvesting.</a:t>
            </a:r>
            <a:endParaRPr sz="2610"/>
          </a:p>
          <a:p>
            <a:pPr marL="457200" lvl="0" indent="-39433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613"/>
              <a:buChar char="●"/>
            </a:pPr>
            <a:r>
              <a:rPr lang="en-US" sz="2610" b="1"/>
              <a:t>Privacy Erosion:</a:t>
            </a:r>
            <a:r>
              <a:rPr lang="en-US" sz="2610"/>
              <a:t> Without a baseline for "normal" behavior, subtle privacy breaches and unusual app activities go undetected.</a:t>
            </a:r>
            <a:endParaRPr sz="2610"/>
          </a:p>
          <a:p>
            <a:pPr marL="457200" lvl="0" indent="-39433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613"/>
              <a:buChar char="●"/>
            </a:pPr>
            <a:r>
              <a:rPr lang="en-US" sz="2610" b="1"/>
              <a:t>Objective:</a:t>
            </a:r>
            <a:r>
              <a:rPr lang="en-US" sz="2610"/>
              <a:t> To restore complete visibility and granular control over data access through real-time monitoring and AI-driven anomaly detection.</a:t>
            </a:r>
            <a:endParaRPr sz="2610"/>
          </a:p>
          <a:p>
            <a:pPr marL="45720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endParaRPr sz="259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 idx="4294967295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/>
              <a:t>Scope of the project</a:t>
            </a:r>
            <a:endParaRPr lang="en-US"/>
          </a:p>
        </p:txBody>
      </p:sp>
      <p:sp>
        <p:nvSpPr>
          <p:cNvPr id="121" name="Google Shape;121;p18"/>
          <p:cNvSpPr txBox="1"/>
          <p:nvPr>
            <p:ph type="body" idx="4294967295"/>
          </p:nvPr>
        </p:nvSpPr>
        <p:spPr>
          <a:xfrm>
            <a:off x="172050" y="990600"/>
            <a:ext cx="8971800" cy="56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600" b="1"/>
              <a:t>Phase 1: Android Security &amp; Privacy</a:t>
            </a:r>
            <a:endParaRPr sz="2600" b="1"/>
          </a:p>
          <a:p>
            <a:pPr marL="457200" lvl="0" indent="-3937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600"/>
              <a:buChar char="●"/>
            </a:pPr>
            <a:r>
              <a:rPr lang="en-US" sz="2600" b="1"/>
              <a:t>Focus:</a:t>
            </a:r>
            <a:r>
              <a:rPr lang="en-US" sz="2600"/>
              <a:t> Comprehensive design and deployment of core security features on the Android platform.</a:t>
            </a:r>
            <a:endParaRPr sz="2600"/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Calibri" panose="020F0502020204030204"/>
              <a:buChar char="●"/>
            </a:pPr>
            <a:r>
              <a:rPr lang="en-US" sz="2600" b="1"/>
              <a:t>Key Deliverables:</a:t>
            </a:r>
            <a:endParaRPr sz="2600" b="1"/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b="1"/>
              <a:t>Real-Time Monitoring:</a:t>
            </a:r>
            <a:r>
              <a:rPr lang="en-US" sz="2600"/>
              <a:t> Optimized background services to track sensor usage.</a:t>
            </a:r>
            <a:endParaRPr sz="2600"/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b="1"/>
              <a:t>Intelligence Layer:</a:t>
            </a:r>
            <a:r>
              <a:rPr lang="en-US" sz="2600"/>
              <a:t> Rule-based and Light ML detection for unusual activity.</a:t>
            </a:r>
            <a:endParaRPr sz="2600"/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b="1"/>
              <a:t>Unified Dashboard:</a:t>
            </a:r>
            <a:r>
              <a:rPr lang="en-US" sz="2600"/>
              <a:t> A single interface for managing all app permissions.</a:t>
            </a:r>
            <a:endParaRPr sz="2600"/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b="1"/>
              <a:t>Network Security:</a:t>
            </a:r>
            <a:r>
              <a:rPr lang="en-US" sz="2600"/>
              <a:t> Built-in VPN with DNS-based Ad-Blocking.</a:t>
            </a:r>
            <a:endParaRPr sz="260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/>
              <a:t>Scope of the project</a:t>
            </a:r>
            <a:endParaRPr lang="en-US"/>
          </a:p>
        </p:txBody>
      </p:sp>
      <p:sp>
        <p:nvSpPr>
          <p:cNvPr id="127" name="Google Shape;127;p19"/>
          <p:cNvSpPr txBox="1"/>
          <p:nvPr>
            <p:ph type="body" idx="4294967295"/>
          </p:nvPr>
        </p:nvSpPr>
        <p:spPr>
          <a:xfrm>
            <a:off x="228600" y="993125"/>
            <a:ext cx="8784000" cy="57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3000"/>
              <a:buFont typeface="Arial" panose="020B0604020202020204"/>
              <a:buNone/>
            </a:pPr>
            <a:r>
              <a:rPr lang="en-US" sz="3365" b="1"/>
              <a:t>Inclusions:</a:t>
            </a:r>
            <a:endParaRPr sz="3365" b="1"/>
          </a:p>
          <a:p>
            <a:pPr marL="457200" lvl="0" indent="-39433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3365"/>
              <a:t>Development of the </a:t>
            </a:r>
            <a:r>
              <a:rPr lang="en-US" sz="3365" b="1"/>
              <a:t>Monitoring Layer</a:t>
            </a:r>
            <a:r>
              <a:rPr lang="en-US" sz="3365"/>
              <a:t> for Camera, Microphone, and Location.</a:t>
            </a:r>
            <a:endParaRPr sz="3365"/>
          </a:p>
          <a:p>
            <a:pPr marL="457200" lvl="0" indent="-3943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3365"/>
              <a:t>Implementation of the </a:t>
            </a:r>
            <a:r>
              <a:rPr lang="en-US" sz="3365" b="1"/>
              <a:t>Intelligence Layer</a:t>
            </a:r>
            <a:r>
              <a:rPr lang="en-US" sz="3365"/>
              <a:t> (Rule-Based + Light ML).</a:t>
            </a:r>
            <a:endParaRPr sz="3365"/>
          </a:p>
          <a:p>
            <a:pPr marL="457200" lvl="0" indent="-3943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3365" b="1"/>
              <a:t>Network Layer</a:t>
            </a:r>
            <a:r>
              <a:rPr lang="en-US" sz="3365"/>
              <a:t> integration (VPN + Ad-Blocker).</a:t>
            </a:r>
            <a:endParaRPr sz="3365"/>
          </a:p>
          <a:p>
            <a:pPr marL="457200" lvl="0" indent="-3943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3365"/>
              <a:t>Automated </a:t>
            </a:r>
            <a:r>
              <a:rPr lang="en-US" sz="3365" b="1"/>
              <a:t>Weekly Privacy/Security Reports</a:t>
            </a:r>
            <a:r>
              <a:rPr lang="en-US" sz="3365"/>
              <a:t>.</a:t>
            </a:r>
            <a:endParaRPr sz="3365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3000"/>
              <a:buFont typeface="Arial" panose="020B0604020202020204"/>
              <a:buNone/>
            </a:pPr>
            <a:r>
              <a:rPr lang="en-US" sz="3365" b="1"/>
              <a:t>Exclusions &amp; Future Scope:</a:t>
            </a:r>
            <a:endParaRPr sz="3365" b="1"/>
          </a:p>
          <a:p>
            <a:pPr marL="457200" lvl="0" indent="-39433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Calibri" panose="020F0502020204030204"/>
              <a:buChar char="●"/>
            </a:pPr>
            <a:r>
              <a:rPr lang="en-US" sz="3365"/>
              <a:t>Complex ML models requiring heavy computation (reserved for Phase 2 to ensure battery efficiency).</a:t>
            </a:r>
            <a:endParaRPr sz="3365"/>
          </a:p>
          <a:p>
            <a:pPr marL="457200" lvl="0" indent="-3943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 panose="020F0502020204030204"/>
              <a:buChar char="●"/>
            </a:pPr>
            <a:r>
              <a:rPr lang="en-US" sz="3365"/>
              <a:t>Full-scale cross-device IoT management (Basic network scan only in Phase 1).</a:t>
            </a:r>
            <a:endParaRPr sz="3365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000"/>
              <a:buFont typeface="Arial" panose="020B0604020202020204"/>
              <a:buNone/>
            </a:pPr>
            <a:r>
              <a:rPr lang="en-US" sz="4000"/>
              <a:t>Methodology</a:t>
            </a:r>
            <a:endParaRPr lang="en-US" sz="4000"/>
          </a:p>
        </p:txBody>
      </p:sp>
      <p:sp>
        <p:nvSpPr>
          <p:cNvPr id="133" name="Google Shape;133;p20"/>
          <p:cNvSpPr txBox="1"/>
          <p:nvPr>
            <p:ph type="body" idx="4294967295"/>
          </p:nvPr>
        </p:nvSpPr>
        <p:spPr>
          <a:xfrm>
            <a:off x="202500" y="1140975"/>
            <a:ext cx="87390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800" b="1"/>
              <a:t>How DPSG Works:</a:t>
            </a:r>
            <a:endParaRPr sz="2800" b="1"/>
          </a:p>
          <a:p>
            <a:pPr marL="457200" lvl="0" indent="-4064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AutoNum type="arabicPeriod"/>
            </a:pPr>
            <a:r>
              <a:rPr lang="en-US" sz="2800" b="1"/>
              <a:t>Data Collection (Real-Time Monitoring):</a:t>
            </a:r>
            <a:r>
              <a:rPr lang="en-US" sz="2800"/>
              <a:t> The system deeply integrates with OS APIs to log sensitive app permissions and network activity in real-time.</a:t>
            </a:r>
            <a:endParaRPr sz="280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 panose="020F0502020204030204"/>
              <a:buAutoNum type="arabicPeriod"/>
            </a:pPr>
            <a:r>
              <a:rPr lang="en-US" sz="2800" b="1"/>
              <a:t>Behavioral Analysis (Intelligence Layer):</a:t>
            </a:r>
            <a:endParaRPr sz="2800" b="1"/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b="1"/>
              <a:t>Rule-Based:</a:t>
            </a:r>
            <a:r>
              <a:rPr lang="en-US"/>
              <a:t> Immediate detection of known threats.</a:t>
            </a:r>
            <a:endParaRPr lang="en-US"/>
          </a:p>
          <a:p>
            <a:pPr marL="91440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b="1"/>
              <a:t>Anomaly Detection:</a:t>
            </a:r>
            <a:r>
              <a:rPr lang="en-US"/>
              <a:t> ML models flag unusual behaviors (e.g., a calculator app accessing the microphone).</a:t>
            </a:r>
            <a:endParaRPr lang="en-US"/>
          </a:p>
          <a:p>
            <a:pPr marL="0" lvl="0" indent="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9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000"/>
              <a:buFont typeface="Arial" panose="020B0604020202020204"/>
              <a:buNone/>
            </a:pPr>
            <a:r>
              <a:rPr lang="en-US" sz="4000"/>
              <a:t>Methodology</a:t>
            </a:r>
            <a:endParaRPr lang="en-US" sz="4000"/>
          </a:p>
        </p:txBody>
      </p:sp>
      <p:sp>
        <p:nvSpPr>
          <p:cNvPr id="139" name="Google Shape;139;p21"/>
          <p:cNvSpPr txBox="1"/>
          <p:nvPr>
            <p:ph type="body" idx="4294967295"/>
          </p:nvPr>
        </p:nvSpPr>
        <p:spPr>
          <a:xfrm>
            <a:off x="282875" y="1524350"/>
            <a:ext cx="8778000" cy="36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3.</a:t>
            </a:r>
            <a:r>
              <a:rPr lang="en-US" sz="2800" b="1"/>
              <a:t>   Network Filtering:</a:t>
            </a:r>
            <a:r>
              <a:rPr lang="en-US" sz="2800"/>
              <a:t> A local VPN tunnel intercepts DNS requests to block trackers and ads before connections are established.</a:t>
            </a: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800"/>
              <a:t>4.   </a:t>
            </a:r>
            <a:r>
              <a:rPr lang="en-US" sz="2800" b="1"/>
              <a:t>Actionable Insight:</a:t>
            </a:r>
            <a:r>
              <a:rPr lang="en-US" sz="2800"/>
              <a:t> Converting logs into simple "Weekly Reports" to educate users and improve digital literacy.</a:t>
            </a:r>
            <a:endParaRPr sz="2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5000"/>
              <a:buFont typeface="Calibri" panose="020F0502020204030204"/>
              <a:buNone/>
            </a:pPr>
            <a:r>
              <a:rPr lang="en-US" sz="3760"/>
              <a:t>Architecture Diagram/Flow</a:t>
            </a:r>
            <a:endParaRPr lang="en-US" sz="3760"/>
          </a:p>
        </p:txBody>
      </p:sp>
      <p:pic>
        <p:nvPicPr>
          <p:cNvPr id="145" name="Google Shape;145;p22" title="Code_Generated_Image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42900" y="1106350"/>
            <a:ext cx="8540151" cy="540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5000"/>
              <a:buFont typeface="Calibri" panose="020F0502020204030204"/>
              <a:buNone/>
            </a:pPr>
            <a:r>
              <a:rPr lang="en-US" sz="3760"/>
              <a:t>Architecture Diagram/Flow</a:t>
            </a:r>
            <a:endParaRPr lang="en-US" sz="3760"/>
          </a:p>
        </p:txBody>
      </p:sp>
      <p:sp>
        <p:nvSpPr>
          <p:cNvPr id="151" name="Google Shape;151;p23"/>
          <p:cNvSpPr txBox="1"/>
          <p:nvPr/>
        </p:nvSpPr>
        <p:spPr>
          <a:xfrm>
            <a:off x="213500" y="1187200"/>
            <a:ext cx="8815200" cy="53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Flow Description:</a:t>
            </a:r>
            <a:endParaRPr sz="2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lang="en-US" sz="2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App Launched:</a:t>
            </a:r>
            <a:r>
              <a:rPr lang="en-US" sz="2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 third-party app initiates a process.</a:t>
            </a:r>
            <a:endParaRPr sz="2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lang="en-US" sz="2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Permission Access:</a:t>
            </a:r>
            <a:r>
              <a:rPr lang="en-US" sz="2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The app requests/uses a sensor (Mic/Camera).</a:t>
            </a:r>
            <a:endParaRPr sz="2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lang="en-US" sz="2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Monitoring Layer:</a:t>
            </a:r>
            <a:r>
              <a:rPr lang="en-US" sz="2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Captures the event and logs the usage.</a:t>
            </a:r>
            <a:endParaRPr sz="2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lang="en-US" sz="2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Intelligence Layer:</a:t>
            </a:r>
            <a:r>
              <a:rPr lang="en-US" sz="2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Analyzes the event against "normal" behavioral baselines.</a:t>
            </a:r>
            <a:endParaRPr sz="2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 panose="020F0502020204030204"/>
              <a:buAutoNum type="arabicPeriod"/>
            </a:pPr>
            <a:r>
              <a:rPr lang="en-US" sz="2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Suggested Actions:</a:t>
            </a:r>
            <a:endParaRPr sz="2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Accept:</a:t>
            </a:r>
            <a:r>
              <a:rPr lang="en-US" sz="2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If behavior is normal.</a:t>
            </a:r>
            <a:endParaRPr sz="2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Alert:</a:t>
            </a:r>
            <a:r>
              <a:rPr lang="en-US" sz="2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If behavior is anomalous (Push Notification sent)</a:t>
            </a:r>
            <a:endParaRPr sz="2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000"/>
              <a:buFont typeface="Arial" panose="020B0604020202020204"/>
              <a:buNone/>
            </a:pPr>
            <a:r>
              <a:rPr lang="en-US" sz="4000"/>
              <a:t>Design-Use Case Diagram</a:t>
            </a:r>
            <a:endParaRPr lang="en-US" sz="4000"/>
          </a:p>
        </p:txBody>
      </p:sp>
      <p:sp>
        <p:nvSpPr>
          <p:cNvPr id="157" name="Google Shape;157;p24"/>
          <p:cNvSpPr txBox="1"/>
          <p:nvPr>
            <p:ph type="body" idx="4294967295"/>
          </p:nvPr>
        </p:nvSpPr>
        <p:spPr>
          <a:xfrm>
            <a:off x="188100" y="1103800"/>
            <a:ext cx="8767800" cy="5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b="1"/>
              <a:t>Actor:</a:t>
            </a:r>
            <a:r>
              <a:rPr lang="en-US" sz="2400"/>
              <a:t> User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b="1"/>
              <a:t>System:</a:t>
            </a:r>
            <a:r>
              <a:rPr lang="en-US" sz="2400"/>
              <a:t> DPSG Application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b="1"/>
              <a:t>Use Cases:</a:t>
            </a:r>
            <a:endParaRPr sz="2400" b="1"/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 b="1"/>
              <a:t>View Dashboard:</a:t>
            </a:r>
            <a:r>
              <a:rPr lang="en-US" sz="2400"/>
              <a:t> User views active permissions (Mic/Cam status).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 b="1"/>
              <a:t>Manage Permissions:</a:t>
            </a:r>
            <a:r>
              <a:rPr lang="en-US" sz="2400"/>
              <a:t> User revokes/grants app permissions via Unified Dashboard.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 b="1"/>
              <a:t>Toggle VPN:</a:t>
            </a:r>
            <a:r>
              <a:rPr lang="en-US" sz="2400"/>
              <a:t> User enables/disables Secure Browsing (Ad-Block).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 b="1"/>
              <a:t>Receive Alert:</a:t>
            </a:r>
            <a:r>
              <a:rPr lang="en-US" sz="2400"/>
              <a:t> User receives Push Notification for suspicious activity.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 b="1"/>
              <a:t>View Weekly Report:</a:t>
            </a:r>
            <a:r>
              <a:rPr lang="en-US" sz="2400"/>
              <a:t> User reads the educational privacy summary.</a:t>
            </a: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000"/>
              <a:buFont typeface="Arial" panose="020B0604020202020204"/>
              <a:buNone/>
            </a:pPr>
            <a:r>
              <a:rPr lang="en-US" sz="4000"/>
              <a:t>Design-Use Case Diagram</a:t>
            </a:r>
            <a:endParaRPr lang="en-US" sz="4000"/>
          </a:p>
        </p:txBody>
      </p:sp>
      <p:pic>
        <p:nvPicPr>
          <p:cNvPr id="163" name="Google Shape;163;p25" title="Code_Generated_Image (1)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009300"/>
            <a:ext cx="8839200" cy="559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000"/>
              <a:buFont typeface="Arial" panose="020B0604020202020204"/>
              <a:buNone/>
            </a:pPr>
            <a:r>
              <a:rPr lang="en-US" sz="4000"/>
              <a:t>Design-Class Diagram</a:t>
            </a:r>
            <a:endParaRPr lang="en-US" sz="4000"/>
          </a:p>
        </p:txBody>
      </p:sp>
      <p:sp>
        <p:nvSpPr>
          <p:cNvPr id="169" name="Google Shape;169;p26"/>
          <p:cNvSpPr txBox="1"/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Class: DPSG_Main</a:t>
            </a:r>
            <a:endParaRPr sz="2000" b="1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Methods: initServices(), showDashboard()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Class: MonitoringService</a:t>
            </a:r>
            <a:endParaRPr sz="2000" b="1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Attributes: activeSensors, appLog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Methods: trackSensorUsage(), logEvent()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Class: IntelligenceEngine</a:t>
            </a:r>
            <a:endParaRPr sz="2000" b="1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Methods: analyzeBehavior(log), detectAnomaly(), triggerAlert()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Class: NetworkGuard</a:t>
            </a:r>
            <a:r>
              <a:rPr lang="en-US" sz="2000"/>
              <a:t> (VPN)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Attributes: vpnStatus, blockList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Methods: enableVPN(), filterDNS()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Class: ReportGenerator</a:t>
            </a:r>
            <a:endParaRPr sz="2000" b="1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Methods: generateWeeklySummary(), displayInsights()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000"/>
              <a:buFont typeface="Arial" panose="020B0604020202020204"/>
              <a:buNone/>
            </a:pPr>
            <a:r>
              <a:rPr lang="en-US" sz="4000"/>
              <a:t>Design-Class Diagram</a:t>
            </a:r>
            <a:endParaRPr lang="en-US" sz="4000"/>
          </a:p>
        </p:txBody>
      </p:sp>
      <p:pic>
        <p:nvPicPr>
          <p:cNvPr id="175" name="Google Shape;175;p27" title="Code_Generated_Image (2)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993125"/>
            <a:ext cx="8827701" cy="5712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000"/>
              <a:buFont typeface="Arial" panose="020B0604020202020204"/>
              <a:buNone/>
            </a:pPr>
            <a:r>
              <a:rPr lang="en-US" sz="4000"/>
              <a:t>Sequence Diagram</a:t>
            </a:r>
            <a:endParaRPr lang="en-US" sz="4000"/>
          </a:p>
        </p:txBody>
      </p:sp>
      <p:pic>
        <p:nvPicPr>
          <p:cNvPr id="181" name="Google Shape;181;p28" title="sequence_diagram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180176"/>
            <a:ext cx="8839200" cy="549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/>
              <a:t>Algorithms used</a:t>
            </a:r>
            <a:endParaRPr lang="en-US"/>
          </a:p>
        </p:txBody>
      </p:sp>
      <p:sp>
        <p:nvSpPr>
          <p:cNvPr id="187" name="Google Shape;187;p29"/>
          <p:cNvSpPr txBox="1"/>
          <p:nvPr>
            <p:ph type="body" idx="4294967295"/>
          </p:nvPr>
        </p:nvSpPr>
        <p:spPr>
          <a:xfrm>
            <a:off x="172500" y="1318500"/>
            <a:ext cx="8799000" cy="49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5145" b="1"/>
              <a:t>Hybrid Intelligence Approach</a:t>
            </a:r>
            <a:endParaRPr sz="5145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5145" b="1"/>
          </a:p>
          <a:p>
            <a:pPr marL="457200" lvl="0" indent="-40830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Calibri" panose="020F0502020204030204"/>
              <a:buAutoNum type="arabicPeriod"/>
            </a:pPr>
            <a:r>
              <a:rPr lang="en-US" sz="5145" b="1"/>
              <a:t>Rule-Based Detection:</a:t>
            </a:r>
            <a:endParaRPr sz="5145" b="1"/>
          </a:p>
          <a:p>
            <a:pPr marL="914400" lvl="1" indent="-40830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5145" b="1"/>
              <a:t>Purpose:</a:t>
            </a:r>
            <a:r>
              <a:rPr lang="en-US" sz="5145"/>
              <a:t> Immediate identification of known risks and policy violations.</a:t>
            </a:r>
            <a:endParaRPr sz="5145"/>
          </a:p>
          <a:p>
            <a:pPr marL="914400" lvl="1" indent="-40830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5145" b="1"/>
              <a:t>Function:</a:t>
            </a:r>
            <a:r>
              <a:rPr lang="en-US" sz="5145"/>
              <a:t> Checks against a static set of strict privacy rules (e.g., "Block Camera access for App X in background").</a:t>
            </a:r>
            <a:endParaRPr sz="5145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742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/>
              <a:t>Algorithms used</a:t>
            </a:r>
            <a:endParaRPr lang="en-US"/>
          </a:p>
        </p:txBody>
      </p:sp>
      <p:sp>
        <p:nvSpPr>
          <p:cNvPr id="193" name="Google Shape;193;p30"/>
          <p:cNvSpPr txBox="1"/>
          <p:nvPr>
            <p:ph type="body" idx="4294967295"/>
          </p:nvPr>
        </p:nvSpPr>
        <p:spPr>
          <a:xfrm>
            <a:off x="172500" y="1287275"/>
            <a:ext cx="8799000" cy="52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7000"/>
              <a:t>2.   </a:t>
            </a:r>
            <a:r>
              <a:rPr lang="en-US" sz="7000" b="1"/>
              <a:t>Light Machine Learning (ML) Anomaly Detection:</a:t>
            </a:r>
            <a:endParaRPr sz="7000" b="1"/>
          </a:p>
          <a:p>
            <a:pPr marL="914400" lvl="1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○"/>
            </a:pPr>
            <a:r>
              <a:rPr lang="en-US" sz="7000" b="1"/>
              <a:t>Purpose:</a:t>
            </a:r>
            <a:r>
              <a:rPr lang="en-US" sz="7000"/>
              <a:t> To identify novel, unknown threats (Zero-day privacy attacks).</a:t>
            </a:r>
            <a:endParaRPr sz="7000"/>
          </a:p>
          <a:p>
            <a:pPr marL="91440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7000" b="1"/>
              <a:t>Function:</a:t>
            </a:r>
            <a:r>
              <a:rPr lang="en-US" sz="7000"/>
              <a:t> Establishes a "normal" behavioral baseline for apps. It scores activity based on deviation. If an app acts "out of character" (statistically significant deviation), it is flagged.</a:t>
            </a:r>
            <a:endParaRPr sz="7000"/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7000" b="1"/>
              <a:t>Optimization:</a:t>
            </a:r>
            <a:r>
              <a:rPr lang="en-US" sz="7000"/>
              <a:t> Specifically designed as "Light ML" to prioritize low resource consumption and battery life.</a:t>
            </a:r>
            <a:endParaRPr sz="700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/>
              <a:t>Implementation</a:t>
            </a:r>
            <a:endParaRPr lang="en-US"/>
          </a:p>
        </p:txBody>
      </p:sp>
      <p:sp>
        <p:nvSpPr>
          <p:cNvPr id="199" name="Google Shape;199;p31"/>
          <p:cNvSpPr txBox="1"/>
          <p:nvPr>
            <p:ph type="body" idx="4294967295"/>
          </p:nvPr>
        </p:nvSpPr>
        <p:spPr>
          <a:xfrm>
            <a:off x="196250" y="1249375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800" b="1"/>
              <a:t>Technology Stack &amp; Tools:</a:t>
            </a:r>
            <a:endParaRPr sz="2800" b="1"/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US" sz="2800" b="1"/>
              <a:t>Platform:</a:t>
            </a:r>
            <a:r>
              <a:rPr lang="en-US" sz="2800"/>
              <a:t> Android (Mobile Application).</a:t>
            </a:r>
            <a:endParaRPr sz="280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 b="1"/>
              <a:t>Monitoring:</a:t>
            </a:r>
            <a:r>
              <a:rPr lang="en-US" sz="2800"/>
              <a:t> Android OS APIs for AccessibilityService and AppOpsManager to track runtime permissions.</a:t>
            </a:r>
            <a:endParaRPr sz="280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 b="1"/>
              <a:t>Network:</a:t>
            </a:r>
            <a:r>
              <a:rPr lang="en-US" sz="2800"/>
              <a:t> VPN Service using protocols like WireGuard/OpenVPN with local DNS filtering.</a:t>
            </a:r>
            <a:endParaRPr sz="280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 b="1"/>
              <a:t>Database:</a:t>
            </a:r>
            <a:r>
              <a:rPr lang="en-US" sz="2800"/>
              <a:t> Encrypted local storage (SQLite/Room) to store logs securely and comply with GDPR.</a:t>
            </a:r>
            <a:endParaRPr sz="280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 b="1"/>
              <a:t>Design:</a:t>
            </a:r>
            <a:r>
              <a:rPr lang="en-US" sz="2800"/>
              <a:t> Follows Android Material Design guidelines for the Unified Dashboard.</a:t>
            </a:r>
            <a:endParaRPr sz="280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/>
              <a:t>Important Code segments</a:t>
            </a:r>
            <a:endParaRPr lang="en-US"/>
          </a:p>
        </p:txBody>
      </p:sp>
      <p:sp>
        <p:nvSpPr>
          <p:cNvPr id="205" name="Google Shape;205;p32"/>
          <p:cNvSpPr txBox="1"/>
          <p:nvPr>
            <p:ph type="body" idx="4294967295"/>
          </p:nvPr>
        </p:nvSpPr>
        <p:spPr>
          <a:xfrm>
            <a:off x="228600" y="990600"/>
            <a:ext cx="8610600" cy="4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5120"/>
              <a:buNone/>
            </a:pPr>
            <a:endParaRPr sz="2800" b="1"/>
          </a:p>
          <a:p>
            <a:pPr marL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5120"/>
              <a:buNone/>
            </a:pPr>
            <a:r>
              <a:rPr lang="en-US" sz="2800" b="1"/>
              <a:t>1. Sensor Monitoring Logic:</a:t>
            </a:r>
            <a:endParaRPr sz="2800" b="1"/>
          </a:p>
          <a:p>
            <a:pPr marL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5120"/>
              <a:buNone/>
            </a:pPr>
            <a:endParaRPr sz="2800" b="1"/>
          </a:p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000"/>
              <a:t># Logic for Real-Time Monitoring Layer [cite: 349, 443]</a:t>
            </a:r>
            <a:endParaRPr sz="2000"/>
          </a:p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000"/>
              <a:t>def monitor_sensor_usage():</a:t>
            </a:r>
            <a:endParaRPr sz="2000"/>
          </a:p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000"/>
              <a:t>    active_apps = get_running_processes()</a:t>
            </a:r>
            <a:endParaRPr sz="2000"/>
          </a:p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000"/>
              <a:t>    for app in active_apps:</a:t>
            </a:r>
            <a:endParaRPr sz="2000"/>
          </a:p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000"/>
              <a:t>        # Check if Mic or Camera is currently in use</a:t>
            </a:r>
            <a:endParaRPr sz="2000"/>
          </a:p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000"/>
              <a:t>        if app.is_using_permission(MIC) or app.is_using_permission(CAMERA):</a:t>
            </a:r>
            <a:endParaRPr sz="2000"/>
          </a:p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000"/>
              <a:t>            log_event(app.name, "SENSOR_ACCESS", timestamp)</a:t>
            </a:r>
            <a:endParaRPr sz="2000"/>
          </a:p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000"/>
              <a:t>            # Send to Intelligence Layer</a:t>
            </a:r>
            <a:endParaRPr sz="2000"/>
          </a:p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000"/>
              <a:t>            analyze_behavior(app.name, "SENSOR_ACCESS")</a:t>
            </a:r>
            <a:endParaRPr sz="2000"/>
          </a:p>
          <a:p>
            <a:pPr marL="0" lvl="0" indent="0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5120"/>
              <a:buNone/>
            </a:pPr>
            <a:endParaRPr sz="2800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/>
              <a:t>Important Code segments</a:t>
            </a:r>
            <a:endParaRPr lang="en-US"/>
          </a:p>
        </p:txBody>
      </p:sp>
      <p:sp>
        <p:nvSpPr>
          <p:cNvPr id="211" name="Google Shape;211;p33"/>
          <p:cNvSpPr txBox="1"/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endParaRPr sz="2800" b="1"/>
          </a:p>
          <a:p>
            <a:pPr marL="0" lvl="0" indent="0" algn="just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US" sz="2800" b="1"/>
              <a:t>2. Anomaly Detection Logic:</a:t>
            </a:r>
            <a:endParaRPr sz="2800" b="1"/>
          </a:p>
          <a:p>
            <a:pPr marL="0" lvl="0" indent="0" algn="just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endParaRPr sz="2800" b="1"/>
          </a:p>
          <a:p>
            <a:pPr marL="0" lvl="0" indent="0" algn="just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000"/>
              <a:t># Logic for Intelligence Layer (Light ML) [cite: 350, 401]</a:t>
            </a:r>
            <a:endParaRPr sz="2000"/>
          </a:p>
          <a:p>
            <a:pPr marL="0" lvl="0" indent="0" algn="just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000"/>
              <a:t>def analyze_behavior(app_name, action):</a:t>
            </a:r>
            <a:endParaRPr sz="2000"/>
          </a:p>
          <a:p>
            <a:pPr marL="0" lvl="0" indent="0" algn="just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000"/>
              <a:t>    baseline = load_app_baseline(app_name)</a:t>
            </a:r>
            <a:endParaRPr sz="2000"/>
          </a:p>
          <a:p>
            <a:pPr marL="0" lvl="0" indent="0" algn="just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000"/>
              <a:t>    deviation_score = calculate_deviation(action, baseline)</a:t>
            </a:r>
            <a:endParaRPr sz="2000"/>
          </a:p>
          <a:p>
            <a:pPr marL="0" lvl="0" indent="0" algn="just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2000"/>
          </a:p>
          <a:p>
            <a:pPr marL="0" lvl="0" indent="0" algn="just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000"/>
              <a:t>    # Threshold for anomaly (e.g. infrequently used app accessing Mic)</a:t>
            </a:r>
            <a:endParaRPr sz="2000"/>
          </a:p>
          <a:p>
            <a:pPr marL="0" lvl="0" indent="0" algn="just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000"/>
              <a:t>    if deviation_score &gt; ANOMALY_THRESHOLD:</a:t>
            </a:r>
            <a:endParaRPr sz="2000"/>
          </a:p>
          <a:p>
            <a:pPr marL="0" lvl="0" indent="0" algn="just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000"/>
              <a:t>        trigger_alert("Suspicious behavior detected: " + app_name)</a:t>
            </a:r>
            <a:endParaRPr sz="2000"/>
          </a:p>
          <a:p>
            <a:pPr marL="0" lvl="0" indent="0" algn="just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endParaRPr sz="2800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/>
              <a:t>Output</a:t>
            </a:r>
            <a:endParaRPr lang="en-US"/>
          </a:p>
        </p:txBody>
      </p:sp>
      <p:sp>
        <p:nvSpPr>
          <p:cNvPr id="217" name="Google Shape;217;p34"/>
          <p:cNvSpPr txBox="1"/>
          <p:nvPr>
            <p:ph type="body" idx="4294967295"/>
          </p:nvPr>
        </p:nvSpPr>
        <p:spPr>
          <a:xfrm>
            <a:off x="228600" y="990600"/>
            <a:ext cx="8784000" cy="54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b="1"/>
              <a:t>Expected User Interface Outputs:</a:t>
            </a:r>
            <a:endParaRPr sz="2400" b="1"/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Calibri" panose="020F0502020204030204"/>
              <a:buAutoNum type="arabicPeriod"/>
            </a:pPr>
            <a:r>
              <a:rPr lang="en-US" sz="2400" b="1"/>
              <a:t>Unified Dashboard:</a:t>
            </a:r>
            <a:endParaRPr sz="2400" b="1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 panose="020F0502020204030204"/>
              <a:buChar char="○"/>
            </a:pPr>
            <a:r>
              <a:rPr lang="en-US" sz="2400"/>
              <a:t>A clean interface showing exactly which apps are currently using the Microphone or Camera.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 panose="020F0502020204030204"/>
              <a:buChar char="○"/>
            </a:pPr>
            <a:r>
              <a:rPr lang="en-US" sz="2400"/>
              <a:t>One-click toggle to revoke permissions for specific apps.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 panose="020F0502020204030204"/>
              <a:buAutoNum type="arabicPeriod"/>
            </a:pPr>
            <a:r>
              <a:rPr lang="en-US" sz="2400" b="1"/>
              <a:t>Alert System:</a:t>
            </a:r>
            <a:endParaRPr sz="2400" b="1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 b="1"/>
              <a:t>Input:</a:t>
            </a:r>
            <a:r>
              <a:rPr lang="en-US" sz="2400"/>
              <a:t> "Calculator" app attempts to access the Microphone in the background.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 b="1"/>
              <a:t>Output:</a:t>
            </a:r>
            <a:r>
              <a:rPr lang="en-US" sz="2400"/>
              <a:t> Immediate Push Notification: "Alert: Calculator is using Microphone unexpectedly. Block now?".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 panose="020F0502020204030204"/>
              <a:buAutoNum type="arabicPeriod"/>
            </a:pPr>
            <a:r>
              <a:rPr lang="en-US" sz="2400" b="1"/>
              <a:t>Weekly Report:</a:t>
            </a:r>
            <a:endParaRPr sz="2400" b="1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 panose="020F0502020204030204"/>
              <a:buChar char="○"/>
            </a:pPr>
            <a:r>
              <a:rPr lang="en-US" sz="2400"/>
              <a:t>A structured summary card showing: "50 Apps tracked," "3 Anomalies blocked," "Privacy Score: High".</a:t>
            </a:r>
            <a:endParaRPr sz="2400"/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100"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/>
              <a:t>Output</a:t>
            </a:r>
            <a:endParaRPr lang="en-US"/>
          </a:p>
        </p:txBody>
      </p:sp>
      <p:pic>
        <p:nvPicPr>
          <p:cNvPr id="223" name="Google Shape;223;p35" title="WhatsApp Image 2025-11-29 at 20.26.46.jpe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82600" y="1018425"/>
            <a:ext cx="3302275" cy="543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391525" y="1113775"/>
            <a:ext cx="3106025" cy="534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/>
              <a:t>Output</a:t>
            </a:r>
            <a:endParaRPr lang="en-US"/>
          </a:p>
        </p:txBody>
      </p:sp>
      <p:pic>
        <p:nvPicPr>
          <p:cNvPr id="230" name="Google Shape;230;p36" title="WhatsApp Image 2025-11-29 at 20.26.47.jpe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36450" y="1066950"/>
            <a:ext cx="3488975" cy="56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999850" y="1066950"/>
            <a:ext cx="3488975" cy="563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/>
              <a:t>Test Cases</a:t>
            </a:r>
            <a:endParaRPr lang="en-US"/>
          </a:p>
        </p:txBody>
      </p:sp>
      <p:sp>
        <p:nvSpPr>
          <p:cNvPr id="237" name="Google Shape;237;p37"/>
          <p:cNvSpPr txBox="1"/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Test Cases</a:t>
            </a:r>
            <a:endParaRPr sz="2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238" name="Google Shape;238;p37"/>
          <p:cNvGraphicFramePr/>
          <p:nvPr/>
        </p:nvGraphicFramePr>
        <p:xfrm>
          <a:off x="326650" y="1680551"/>
          <a:ext cx="8512575" cy="4848975"/>
        </p:xfrm>
        <a:graphic>
          <a:graphicData uri="http://schemas.openxmlformats.org/drawingml/2006/table">
            <a:tbl>
              <a:tblPr>
                <a:noFill/>
                <a:tableStyleId>{A0F095FD-EDBD-4191-B52B-8100216E512F}</a:tableStyleId>
              </a:tblPr>
              <a:tblGrid>
                <a:gridCol w="517925"/>
                <a:gridCol w="2142575"/>
                <a:gridCol w="1769800"/>
                <a:gridCol w="1572100"/>
                <a:gridCol w="1077575"/>
                <a:gridCol w="1432600"/>
              </a:tblGrid>
              <a:tr h="455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S.NO</a:t>
                      </a:r>
                      <a:endParaRPr sz="9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68575" marR="68575" marT="9525" marB="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Action</a:t>
                      </a:r>
                      <a:endParaRPr sz="9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68575" marR="68575" marT="9525" marB="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Input</a:t>
                      </a:r>
                      <a:endParaRPr sz="9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68575" marR="68575" marT="9525" marB="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Expected output</a:t>
                      </a:r>
                      <a:endParaRPr sz="9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68575" marR="68575" marT="9525" marB="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Actual output</a:t>
                      </a:r>
                      <a:endParaRPr sz="9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68575" marR="68575" marT="9525" marB="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Test Result</a:t>
                      </a:r>
                      <a:endParaRPr sz="9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68575" marR="68575" marT="9525" marB="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4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1</a:t>
                      </a:r>
                      <a:endParaRPr sz="900" u="none" strike="noStrike" cap="none"/>
                    </a:p>
                  </a:txBody>
                  <a:tcPr marL="68575" marR="68575" marT="9525" marB="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Test Case 1:</a:t>
                      </a:r>
                      <a:r>
                        <a:rPr lang="en-US" sz="900"/>
                        <a:t> Check Active Sensor</a:t>
                      </a:r>
                      <a:endParaRPr sz="900" u="none" strike="noStrike" cap="none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Input: </a:t>
                      </a:r>
                      <a:r>
                        <a:rPr lang="en-US" sz="900"/>
                        <a:t>Open a Voice Recorder app.</a:t>
                      </a:r>
                      <a:endParaRPr sz="900" u="none" strike="noStrike" cap="none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Expected Output: </a:t>
                      </a:r>
                      <a:r>
                        <a:rPr lang="en-US" sz="900"/>
                        <a:t>Dashboard displays "Recorder is using Microphone" in real-time</a:t>
                      </a:r>
                      <a:endParaRPr sz="900" u="none" strike="noStrike" cap="none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Actual Output:</a:t>
                      </a:r>
                      <a:r>
                        <a:rPr lang="en-US" sz="900"/>
                        <a:t> Same</a:t>
                      </a:r>
                      <a:endParaRPr sz="900" u="none" strike="noStrike" cap="none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Result: Pass</a:t>
                      </a:r>
                      <a:endParaRPr sz="900" u="none" strike="noStrike" cap="none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4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2</a:t>
                      </a:r>
                      <a:endParaRPr sz="900" u="none" strike="noStrike" cap="none"/>
                    </a:p>
                  </a:txBody>
                  <a:tcPr marL="68575" marR="68575" marT="9525" marB="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Test Case 2:</a:t>
                      </a:r>
                      <a:r>
                        <a:rPr lang="en-US" sz="900"/>
                        <a:t> Anomaly Alert</a:t>
                      </a:r>
                      <a:endParaRPr sz="900" u="none" strike="noStrike" cap="none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Input: </a:t>
                      </a:r>
                      <a:r>
                        <a:rPr lang="en-US" sz="900"/>
                        <a:t>A background app (e.g., Notepad) tries to access Camera.</a:t>
                      </a:r>
                      <a:endParaRPr sz="900" u="none" strike="noStrike" cap="none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Expected Output: </a:t>
                      </a:r>
                      <a:r>
                        <a:rPr lang="en-US" sz="900"/>
                        <a:t>System triggers a "Suspicious Activity" Push Notification immediately.</a:t>
                      </a:r>
                      <a:endParaRPr sz="900" u="none" strike="noStrike" cap="none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Actual Output:</a:t>
                      </a:r>
                      <a:r>
                        <a:rPr lang="en-US" sz="900"/>
                        <a:t> Same</a:t>
                      </a:r>
                      <a:endParaRPr sz="900" u="none" strike="noStrike" cap="none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Result: Pass</a:t>
                      </a:r>
                      <a:endParaRPr sz="900" u="none" strike="noStrike" cap="none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24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3</a:t>
                      </a:r>
                      <a:endParaRPr sz="900" u="none" strike="noStrike" cap="none"/>
                    </a:p>
                  </a:txBody>
                  <a:tcPr marL="68575" marR="68575" marT="9525" marB="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Test Case 3: </a:t>
                      </a:r>
                      <a:r>
                        <a:rPr lang="en-US" sz="900"/>
                        <a:t>VPN Toggle</a:t>
                      </a:r>
                      <a:endParaRPr sz="900" u="none" strike="noStrike" cap="none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Input: </a:t>
                      </a:r>
                      <a:r>
                        <a:rPr lang="en-US" sz="900"/>
                        <a:t>User clicks "Enable Protection" on Dashboard.</a:t>
                      </a:r>
                      <a:endParaRPr sz="900" u="none" strike="noStrike" cap="none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Expected Output: </a:t>
                      </a:r>
                      <a:endParaRPr sz="90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/>
                        <a:t>VPN icon appears in status bar; Ads/Trackers are blocked in browser.</a:t>
                      </a:r>
                      <a:endParaRPr sz="9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Actual Output:</a:t>
                      </a:r>
                      <a:r>
                        <a:rPr lang="en-US" sz="900"/>
                        <a:t> Same</a:t>
                      </a:r>
                      <a:endParaRPr sz="900" u="none" strike="noStrike" cap="none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Result: Pass</a:t>
                      </a:r>
                      <a:endParaRPr sz="900" u="none" strike="noStrike" cap="none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42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4</a:t>
                      </a:r>
                      <a:endParaRPr sz="900" u="none" strike="noStrike" cap="none"/>
                    </a:p>
                  </a:txBody>
                  <a:tcPr marL="68575" marR="68575" marT="9525" marB="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Test Case 4: </a:t>
                      </a:r>
                      <a:r>
                        <a:rPr lang="en-US" sz="900"/>
                        <a:t>Permission Audit</a:t>
                      </a:r>
                      <a:endParaRPr sz="900" u="none" strike="noStrike" cap="none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Input:</a:t>
                      </a:r>
                      <a:r>
                        <a:rPr lang="en-US" sz="900"/>
                        <a:t> User opens Unified Dashboard.</a:t>
                      </a:r>
                      <a:endParaRPr sz="900" u="none" strike="noStrike" cap="none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Expected Output: </a:t>
                      </a:r>
                      <a:r>
                        <a:rPr lang="en-US" sz="900"/>
                        <a:t>List of all apps with sensitive permissions is displayed clearly</a:t>
                      </a:r>
                      <a:endParaRPr sz="900" u="none" strike="noStrike" cap="none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Actual Output:</a:t>
                      </a:r>
                      <a:r>
                        <a:rPr lang="en-US" sz="900"/>
                        <a:t> Same</a:t>
                      </a:r>
                      <a:endParaRPr sz="900" u="none" strike="noStrike" cap="none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Result: Pass</a:t>
                      </a:r>
                      <a:endParaRPr sz="900" u="none" strike="noStrike" cap="none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4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5</a:t>
                      </a:r>
                      <a:endParaRPr sz="9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68575" marR="68575" marT="9525" marB="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Test Case 5:</a:t>
                      </a:r>
                      <a:r>
                        <a:rPr lang="en-US" sz="900"/>
                        <a:t> Report Generation</a:t>
                      </a:r>
                      <a:endParaRPr sz="900" u="none" strike="noStrike" cap="none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Input</a:t>
                      </a:r>
                      <a:r>
                        <a:rPr lang="en-US" sz="900"/>
                        <a:t>: End of week cycle.</a:t>
                      </a:r>
                      <a:endParaRPr sz="900" u="none" strike="noStrike" cap="none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Expected Output: </a:t>
                      </a:r>
                      <a:r>
                        <a:rPr lang="en-US" sz="900"/>
                        <a:t>"Weekly Privacy Report" is generated and notifies the user</a:t>
                      </a:r>
                      <a:endParaRPr sz="900" u="none" strike="noStrike" cap="none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Actual Output:</a:t>
                      </a:r>
                      <a:r>
                        <a:rPr lang="en-US" sz="900"/>
                        <a:t> Same</a:t>
                      </a:r>
                      <a:endParaRPr sz="900" u="none" strike="noStrike" cap="none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/>
                        <a:buNone/>
                      </a:pPr>
                      <a:r>
                        <a:rPr lang="en-US" sz="900" u="none" strike="noStrike" cap="none"/>
                        <a:t>Result: Pass</a:t>
                      </a:r>
                      <a:endParaRPr sz="900" u="none" strike="noStrike" cap="none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8"/>
          <p:cNvSpPr txBox="1"/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/>
              <a:t>Results</a:t>
            </a:r>
            <a:endParaRPr lang="en-US"/>
          </a:p>
        </p:txBody>
      </p:sp>
      <p:sp>
        <p:nvSpPr>
          <p:cNvPr id="244" name="Google Shape;244;p38"/>
          <p:cNvSpPr txBox="1"/>
          <p:nvPr>
            <p:ph type="body" idx="4294967295"/>
          </p:nvPr>
        </p:nvSpPr>
        <p:spPr>
          <a:xfrm>
            <a:off x="228600" y="990600"/>
            <a:ext cx="8753100" cy="56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10000"/>
          </a:bodyPr>
          <a:lstStyle/>
          <a:p>
            <a:pPr marL="0" lvl="0" indent="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 panose="020B0604020202020204"/>
              <a:buNone/>
            </a:pPr>
            <a:r>
              <a:rPr lang="en-US" sz="4315" b="1"/>
              <a:t>Key Performance Indicators (KPIs):</a:t>
            </a:r>
            <a:endParaRPr sz="4315" b="1"/>
          </a:p>
          <a:p>
            <a:pPr marL="457200" lvl="0" indent="-3587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4315" b="1"/>
              <a:t>False Positive Rate (FPR):</a:t>
            </a:r>
            <a:r>
              <a:rPr lang="en-US" sz="4315"/>
              <a:t> </a:t>
            </a:r>
            <a:r>
              <a:rPr lang="en-US" sz="4315" b="1"/>
              <a:t>&lt; 5%</a:t>
            </a:r>
            <a:endParaRPr sz="4315" b="1"/>
          </a:p>
          <a:p>
            <a:pPr marL="914400" lvl="1" indent="-3587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 panose="020F0502020204030204"/>
              <a:buChar char="○"/>
            </a:pPr>
            <a:r>
              <a:rPr lang="en-US" sz="4315" i="1"/>
              <a:t>Goal:</a:t>
            </a:r>
            <a:r>
              <a:rPr lang="en-US" sz="4315"/>
              <a:t> To ensure alerts are accurate and prevent user "alert fatigue".</a:t>
            </a:r>
            <a:endParaRPr sz="4315"/>
          </a:p>
          <a:p>
            <a:pPr marL="457200" lvl="0" indent="-3587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4315" b="1"/>
              <a:t>System Uptime:</a:t>
            </a:r>
            <a:r>
              <a:rPr lang="en-US" sz="4315"/>
              <a:t> </a:t>
            </a:r>
            <a:r>
              <a:rPr lang="en-US" sz="4315" b="1"/>
              <a:t>99.9%</a:t>
            </a:r>
            <a:endParaRPr sz="4315" b="1"/>
          </a:p>
          <a:p>
            <a:pPr marL="914400" lvl="1" indent="-3587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 panose="020F0502020204030204"/>
              <a:buChar char="○"/>
            </a:pPr>
            <a:r>
              <a:rPr lang="en-US" sz="4315" i="1"/>
              <a:t>Goal:</a:t>
            </a:r>
            <a:r>
              <a:rPr lang="en-US" sz="4315"/>
              <a:t> Continuous background monitoring to ensure no gaps in privacy protection.</a:t>
            </a:r>
            <a:endParaRPr sz="4315"/>
          </a:p>
          <a:p>
            <a:pPr marL="457200" lvl="0" indent="-3587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4315" b="1"/>
              <a:t>Blocking Efficiency:</a:t>
            </a:r>
            <a:r>
              <a:rPr lang="en-US" sz="4315"/>
              <a:t> </a:t>
            </a:r>
            <a:r>
              <a:rPr lang="en-US" sz="4315" b="1"/>
              <a:t>High (Zero Latency)</a:t>
            </a:r>
            <a:endParaRPr sz="4315" b="1"/>
          </a:p>
          <a:p>
            <a:pPr marL="914400" lvl="1" indent="-3587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 panose="020F0502020204030204"/>
              <a:buChar char="○"/>
            </a:pPr>
            <a:r>
              <a:rPr lang="en-US" sz="4315" i="1"/>
              <a:t>Goal:</a:t>
            </a:r>
            <a:r>
              <a:rPr lang="en-US" sz="4315"/>
              <a:t> The local DNS-based blocking ensures ads/trackers are stopped before the connection leaves the device, improving page load speeds.</a:t>
            </a:r>
            <a:endParaRPr sz="4315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 panose="020B0604020202020204"/>
              <a:buNone/>
            </a:pPr>
            <a:r>
              <a:rPr lang="en-US" sz="4315" b="1"/>
              <a:t>Inferences:</a:t>
            </a:r>
            <a:endParaRPr sz="4315" b="1"/>
          </a:p>
          <a:p>
            <a:pPr marL="457200" lvl="0" indent="-3587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4315" b="1"/>
              <a:t>Battery Impact:</a:t>
            </a:r>
            <a:r>
              <a:rPr lang="en-US" sz="4315"/>
              <a:t> The "Light ML" approach ensures the app runs effectively in the background without draining the battery.</a:t>
            </a:r>
            <a:endParaRPr sz="4315"/>
          </a:p>
          <a:p>
            <a:pPr marL="457200" lvl="0" indent="-3587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4315" b="1"/>
              <a:t>Privacy Control:</a:t>
            </a:r>
            <a:r>
              <a:rPr lang="en-US" sz="4315"/>
              <a:t> The shift from reactive scanning to </a:t>
            </a:r>
            <a:r>
              <a:rPr lang="en-US" sz="4315" b="1"/>
              <a:t>real-time behavioral monitoring</a:t>
            </a:r>
            <a:r>
              <a:rPr lang="en-US" sz="4315"/>
              <a:t> provides immediate visibility into invisible app activities.</a:t>
            </a:r>
            <a:endParaRPr sz="4315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9"/>
          <p:cNvSpPr txBox="1"/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/>
              <a:t>Conclusion</a:t>
            </a:r>
            <a:endParaRPr lang="en-US"/>
          </a:p>
        </p:txBody>
      </p:sp>
      <p:sp>
        <p:nvSpPr>
          <p:cNvPr id="250" name="Google Shape;250;p39"/>
          <p:cNvSpPr txBox="1"/>
          <p:nvPr>
            <p:ph type="body" idx="4294967295"/>
          </p:nvPr>
        </p:nvSpPr>
        <p:spPr>
          <a:xfrm>
            <a:off x="266700" y="1412200"/>
            <a:ext cx="8610600" cy="43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just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 b="1"/>
              <a:t>Proactive Protection:</a:t>
            </a:r>
            <a:r>
              <a:rPr lang="en-US" sz="2800"/>
              <a:t> DPSG successfully bridges the gap between passive device security and the user's need for total digital control.</a:t>
            </a:r>
            <a:endParaRPr sz="2800"/>
          </a:p>
          <a:p>
            <a:pPr marL="457200" lvl="0" indent="-406400" algn="just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 b="1"/>
              <a:t>Empowerment:</a:t>
            </a:r>
            <a:r>
              <a:rPr lang="en-US" sz="2800"/>
              <a:t> By centralizing controls and providing educational reports, the system transforms users from passive targets into informed privacy managers.</a:t>
            </a:r>
            <a:endParaRPr sz="2800"/>
          </a:p>
          <a:p>
            <a:pPr marL="457200" lvl="0" indent="-406400" algn="just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 b="1"/>
              <a:t>SDG Alignment:</a:t>
            </a:r>
            <a:r>
              <a:rPr lang="en-US" sz="2800"/>
              <a:t> The project aligns with </a:t>
            </a:r>
            <a:r>
              <a:rPr lang="en-US" sz="2800" b="1"/>
              <a:t>SDG 9</a:t>
            </a:r>
            <a:r>
              <a:rPr lang="en-US" sz="2800"/>
              <a:t> (Innovation) and </a:t>
            </a:r>
            <a:r>
              <a:rPr lang="en-US" sz="2800" b="1"/>
              <a:t>SDG 16</a:t>
            </a:r>
            <a:r>
              <a:rPr lang="en-US" sz="2800"/>
              <a:t> (Strong Institutions/Privacy).</a:t>
            </a:r>
            <a:endParaRPr sz="280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0"/>
          <p:cNvSpPr txBox="1"/>
          <p:nvPr>
            <p:ph type="title" idx="4294967295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/>
              <a:t>Future Work</a:t>
            </a:r>
            <a:endParaRPr lang="en-US"/>
          </a:p>
        </p:txBody>
      </p:sp>
      <p:sp>
        <p:nvSpPr>
          <p:cNvPr id="256" name="Google Shape;256;p40"/>
          <p:cNvSpPr txBox="1"/>
          <p:nvPr>
            <p:ph type="body" idx="4294967295"/>
          </p:nvPr>
        </p:nvSpPr>
        <p:spPr>
          <a:xfrm>
            <a:off x="266700" y="1568325"/>
            <a:ext cx="8610600" cy="44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just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 b="1"/>
              <a:t>IoT Ecosystem:</a:t>
            </a:r>
            <a:r>
              <a:rPr lang="en-US" sz="2800"/>
              <a:t> Expansion of the monitoring capabilities to cover connected IoT devices within the user's local network.</a:t>
            </a:r>
            <a:endParaRPr sz="2800"/>
          </a:p>
          <a:p>
            <a:pPr marL="457200" lvl="0" indent="-406400" algn="just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 b="1"/>
              <a:t>Advanced ML Models:</a:t>
            </a:r>
            <a:r>
              <a:rPr lang="en-US" sz="2800"/>
              <a:t> Integration of more complex Machine Learning models for deeper behavioral analysis as device hardware capabilities increase.</a:t>
            </a:r>
            <a:endParaRPr sz="2800"/>
          </a:p>
          <a:p>
            <a:pPr marL="457200" lvl="0" indent="-406400" algn="just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 b="1"/>
              <a:t>Cross-Platform:</a:t>
            </a:r>
            <a:r>
              <a:rPr lang="en-US" sz="2800"/>
              <a:t> Extending the DPSG architecture to support iOS and Desktop environments for a unified cross-device experience.</a:t>
            </a:r>
            <a:endParaRPr sz="280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1"/>
          <p:cNvSpPr txBox="1"/>
          <p:nvPr>
            <p:ph type="title" idx="4294967295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/>
              <a:t>References</a:t>
            </a:r>
            <a:endParaRPr lang="en-US"/>
          </a:p>
        </p:txBody>
      </p:sp>
      <p:sp>
        <p:nvSpPr>
          <p:cNvPr id="262" name="Google Shape;262;p41"/>
          <p:cNvSpPr txBox="1"/>
          <p:nvPr>
            <p:ph type="body" idx="4294967295"/>
          </p:nvPr>
        </p:nvSpPr>
        <p:spPr>
          <a:xfrm>
            <a:off x="228600" y="990600"/>
            <a:ext cx="8768700" cy="53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spcBef>
                <a:spcPts val="64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A. Sharma and S. Gupta, “</a:t>
            </a:r>
            <a:r>
              <a:rPr lang="en-US" sz="2800" b="1"/>
              <a:t>Machine Learning for Runtime Permission Monitoring in Android Applications</a:t>
            </a:r>
            <a:r>
              <a:rPr lang="en-US" sz="2800"/>
              <a:t>,” </a:t>
            </a:r>
            <a:r>
              <a:rPr lang="en-US" sz="2800" i="1"/>
              <a:t>International Journal of Computer Applications</a:t>
            </a:r>
            <a:r>
              <a:rPr lang="en-US" sz="2800"/>
              <a:t>, 2023.</a:t>
            </a:r>
            <a:endParaRPr sz="28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M. Chen and R. Kumar, “</a:t>
            </a:r>
            <a:r>
              <a:rPr lang="en-US" sz="2800" b="1"/>
              <a:t>A Novel Approach to DNS-based Tracking Prevention in Mobile VPN Architectures</a:t>
            </a:r>
            <a:r>
              <a:rPr lang="en-US" sz="2800"/>
              <a:t>,” </a:t>
            </a:r>
            <a:r>
              <a:rPr lang="en-US" sz="2800" i="1"/>
              <a:t>International Journal of Emerging Technologies</a:t>
            </a:r>
            <a:r>
              <a:rPr lang="en-US" sz="2800"/>
              <a:t>, 2022.</a:t>
            </a:r>
            <a:endParaRPr sz="28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Y. Li and K. Das, “</a:t>
            </a:r>
            <a:r>
              <a:rPr lang="en-US" sz="2800" b="1"/>
              <a:t>Empowering Users: A Review of Privacy-Enhancing Technologies in Mobile Operating Systems</a:t>
            </a:r>
            <a:r>
              <a:rPr lang="en-US" sz="2800"/>
              <a:t>,” </a:t>
            </a:r>
            <a:r>
              <a:rPr lang="en-US" sz="2800" i="1"/>
              <a:t>IEEE Access</a:t>
            </a:r>
            <a:r>
              <a:rPr lang="en-US" sz="2800"/>
              <a:t>, 2022.</a:t>
            </a:r>
            <a:endParaRPr sz="28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Android Design Guidelines:</a:t>
            </a:r>
            <a:r>
              <a:rPr lang="en-US" sz="2800">
                <a:uFill>
                  <a:noFill/>
                </a:uFill>
                <a:hlinkClick r:id="rId1"/>
              </a:rPr>
              <a:t> </a:t>
            </a:r>
            <a:r>
              <a:rPr lang="en-US" sz="2800" u="sng">
                <a:solidFill>
                  <a:schemeClr val="hlink"/>
                </a:solidFill>
                <a:hlinkClick r:id="rId1"/>
              </a:rPr>
              <a:t>https://www.developer.android.com/design</a:t>
            </a:r>
            <a:r>
              <a:rPr lang="en-US" sz="2800"/>
              <a:t>.</a:t>
            </a:r>
            <a:endParaRPr sz="280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 u="sng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2"/>
          <p:cNvSpPr txBox="1"/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/>
              <a:t>Questions</a:t>
            </a:r>
            <a:endParaRPr lang="en-US"/>
          </a:p>
        </p:txBody>
      </p:sp>
      <p:pic>
        <p:nvPicPr>
          <p:cNvPr id="268" name="Google Shape;268;p4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532925" y="2292525"/>
            <a:ext cx="3753125" cy="248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4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10350</Words>
  <Application>WPS Presentation</Application>
  <PresentationFormat/>
  <Paragraphs>336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9" baseType="lpstr">
      <vt:lpstr>Arial</vt:lpstr>
      <vt:lpstr>SimSun</vt:lpstr>
      <vt:lpstr>Wingdings</vt:lpstr>
      <vt:lpstr>Arial</vt:lpstr>
      <vt:lpstr>Calibri</vt:lpstr>
      <vt:lpstr>Times New Roman</vt:lpstr>
      <vt:lpstr>Microsoft YaHei</vt:lpstr>
      <vt:lpstr>Arial Unicode MS</vt:lpstr>
      <vt:lpstr>Office Theme</vt:lpstr>
      <vt:lpstr>PowerPoint 演示文稿</vt:lpstr>
      <vt:lpstr>Agenda</vt:lpstr>
      <vt:lpstr>Introduction</vt:lpstr>
      <vt:lpstr>Statement of the Problem</vt:lpstr>
      <vt:lpstr>Scope of the project</vt:lpstr>
      <vt:lpstr>Scope of the project</vt:lpstr>
      <vt:lpstr>Methodology</vt:lpstr>
      <vt:lpstr>Methodology</vt:lpstr>
      <vt:lpstr>Architecture Diagram/Flow</vt:lpstr>
      <vt:lpstr>Architecture Diagram/Flow</vt:lpstr>
      <vt:lpstr>Design-Use Case Diagram</vt:lpstr>
      <vt:lpstr>Design-Use Case Diagram</vt:lpstr>
      <vt:lpstr>Design-Class Diagram</vt:lpstr>
      <vt:lpstr>Design-Class Diagram</vt:lpstr>
      <vt:lpstr>Sequence Diagram</vt:lpstr>
      <vt:lpstr>Algorithms used</vt:lpstr>
      <vt:lpstr>Algorithms used</vt:lpstr>
      <vt:lpstr>Implementation</vt:lpstr>
      <vt:lpstr>Important Code segments</vt:lpstr>
      <vt:lpstr>Important Code segments</vt:lpstr>
      <vt:lpstr>Output</vt:lpstr>
      <vt:lpstr>Output</vt:lpstr>
      <vt:lpstr>Output</vt:lpstr>
      <vt:lpstr>Test Cases</vt:lpstr>
      <vt:lpstr>Results</vt:lpstr>
      <vt:lpstr>Conclusion</vt:lpstr>
      <vt:lpstr>Future Work</vt:lpstr>
      <vt:lpstr>References</vt:lpstr>
      <vt:lpstr>Questions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PERARASU M</cp:lastModifiedBy>
  <cp:revision>1</cp:revision>
  <dcterms:created xsi:type="dcterms:W3CDTF">2025-11-30T14:38:32Z</dcterms:created>
  <dcterms:modified xsi:type="dcterms:W3CDTF">2025-11-30T14:38:32Z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AEE05351E1334FDFA268CA6ADA0164F3_12</vt:lpwstr>
  </property>
  <property fmtid="{D5CDD505-2E9C-101B-9397-08002B2CF9AE}" pid="3" name="KSOProductBuildVer">
    <vt:lpwstr>2057-12.2.0.23155</vt:lpwstr>
  </property>
</Properties>
</file>